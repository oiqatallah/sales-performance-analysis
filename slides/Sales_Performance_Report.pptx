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484248</c:v>
                </c:pt>
                <c:pt idx="1">
                  <c:v>470533</c:v>
                </c:pt>
                <c:pt idx="2">
                  <c:v>609206</c:v>
                </c:pt>
                <c:pt idx="3">
                  <c:v>733215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$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49544</c:v>
                </c:pt>
                <c:pt idx="1">
                  <c:v>61619</c:v>
                </c:pt>
                <c:pt idx="2">
                  <c:v>81795</c:v>
                </c:pt>
                <c:pt idx="3">
                  <c:v>93439</c:v>
                </c:pt>
              </c:numCache>
            </c:numRef>
          </c:val>
        </c:ser>
        <c:dLbls>
          <c:numFmt formatCode="$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Sheet1!$A$2:$A$18</c:f>
              <c:multiLvlStrCache>
                <c:ptCount val="17"/>
                <c:lvl>
                  <c:pt idx="0">
                    <c:v>Tables</c:v>
                  </c:pt>
                  <c:pt idx="1">
                    <c:v>Bookcases</c:v>
                  </c:pt>
                  <c:pt idx="2">
                    <c:v>Supplies</c:v>
                  </c:pt>
                  <c:pt idx="3">
                    <c:v>Fasteners</c:v>
                  </c:pt>
                  <c:pt idx="4">
                    <c:v>Machines</c:v>
                  </c:pt>
                  <c:pt idx="5">
                    <c:v>Labels</c:v>
                  </c:pt>
                  <c:pt idx="6">
                    <c:v>Art</c:v>
                  </c:pt>
                  <c:pt idx="7">
                    <c:v>Envelopes</c:v>
                  </c:pt>
                  <c:pt idx="8">
                    <c:v>Furnishings</c:v>
                  </c:pt>
                  <c:pt idx="9">
                    <c:v>Appliances</c:v>
                  </c:pt>
                  <c:pt idx="10">
                    <c:v>Storage</c:v>
                  </c:pt>
                  <c:pt idx="11">
                    <c:v>Chairs</c:v>
                  </c:pt>
                  <c:pt idx="12">
                    <c:v>Binders</c:v>
                  </c:pt>
                  <c:pt idx="13">
                    <c:v>Paper</c:v>
                  </c:pt>
                  <c:pt idx="14">
                    <c:v>Accessories</c:v>
                  </c:pt>
                  <c:pt idx="15">
                    <c:v>Phones</c:v>
                  </c:pt>
                  <c:pt idx="16">
                    <c:v>Copiers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-17725</c:v>
                </c:pt>
                <c:pt idx="1">
                  <c:v>-3473</c:v>
                </c:pt>
                <c:pt idx="2">
                  <c:v>-1189</c:v>
                </c:pt>
                <c:pt idx="3">
                  <c:v>950</c:v>
                </c:pt>
                <c:pt idx="4">
                  <c:v>3385</c:v>
                </c:pt>
                <c:pt idx="5">
                  <c:v>5546</c:v>
                </c:pt>
                <c:pt idx="6">
                  <c:v>6528</c:v>
                </c:pt>
                <c:pt idx="7">
                  <c:v>6964</c:v>
                </c:pt>
                <c:pt idx="8">
                  <c:v>13059</c:v>
                </c:pt>
                <c:pt idx="9">
                  <c:v>18138</c:v>
                </c:pt>
                <c:pt idx="10">
                  <c:v>21279</c:v>
                </c:pt>
                <c:pt idx="11">
                  <c:v>26590</c:v>
                </c:pt>
                <c:pt idx="12">
                  <c:v>30222</c:v>
                </c:pt>
                <c:pt idx="13">
                  <c:v>34054</c:v>
                </c:pt>
                <c:pt idx="14">
                  <c:v>41937</c:v>
                </c:pt>
                <c:pt idx="15">
                  <c:v>44516</c:v>
                </c:pt>
                <c:pt idx="16">
                  <c:v>55618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$#,##0,&quot;K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F172A"/>
                </a:solidFill>
                <a:latin typeface="Arial"/>
              </a:rPr>
              <a:t>Profit margin by discount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1-10%</c:v>
                  </c:pt>
                  <c:pt idx="2">
                    <c:v>11-20%</c:v>
                  </c:pt>
                  <c:pt idx="3">
                    <c:v>21-30%</c:v>
                  </c:pt>
                  <c:pt idx="4">
                    <c:v>31-50%</c:v>
                  </c:pt>
                  <c:pt idx="5">
                    <c:v>&gt;50%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29.51</c:v>
                </c:pt>
                <c:pt idx="1">
                  <c:v>16.61</c:v>
                </c:pt>
                <c:pt idx="2">
                  <c:v>11.58</c:v>
                </c:pt>
                <c:pt idx="3">
                  <c:v>-10.05</c:v>
                </c:pt>
                <c:pt idx="4">
                  <c:v>-24.8</c:v>
                </c:pt>
                <c:pt idx="5">
                  <c:v>-119.2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Returning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437</c:v>
                </c:pt>
                <c:pt idx="2">
                  <c:v>587</c:v>
                </c:pt>
                <c:pt idx="3">
                  <c:v>682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2015</c:v>
                  </c:pt>
                  <c:pt idx="1">
                    <c:v>2016</c:v>
                  </c:pt>
                  <c:pt idx="2">
                    <c:v>2017</c:v>
                  </c:pt>
                  <c:pt idx="3">
                    <c:v>2018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595</c:v>
                </c:pt>
                <c:pt idx="1">
                  <c:v>136</c:v>
                </c:pt>
                <c:pt idx="2">
                  <c:v>51</c:v>
                </c:pt>
                <c:pt idx="3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2015-2018: overall performance, promotion effectiveness and customer behaviour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portfolio project  |  SQL, Python,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healthy, but discounting and a stalled customer base put it at risk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$2.30M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1371600"/>
            <a:ext cx="19202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42032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$286K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(12.5% margin)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371600"/>
            <a:ext cx="19202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6864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growth 2015 to 2018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1696" y="1371600"/>
            <a:ext cx="192024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11696" y="1444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-$135K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711696" y="2011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&gt;20% discount lines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are 14% of order lines but erase 32% of the profit earned elsewhere, with no gain in units per order.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Bookcases and Supplies lose money; Copiers grows fastest with a 37% margin.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fell from 136 (2016) to 11 (2018): growth relies on a saturated base of about 790 customers.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grew 51% since 2015; margin peaked in 2017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by year (USD)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46304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 dipped 2.8%, then +29% (2017) and +20% (2018).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10.2% (2015), 13.4% (2017), 12.7% (2018).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up 74% but average order value down from $500 to $435.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sub-categories lose money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 by sub-category, 2015-2018 (USD)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37160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Tables: $207K sales but -$18K profit (-8.6% margin); 55% of lines discounted over 20%.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Copiers: sales CAGR +80% with a 37% margin.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Machines: sales CAGR -11% and loss-making in 2018.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Paper, Labels and Envelopes: 42-44% margins on small revenue; bundling candidates.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above 20% destroy margin without lifting volume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and average quantity by discount band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846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40680" y="1371600"/>
            <a:ext cx="3291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29.5% at no discount, 11.6% at 11-20%, then negative: -10%, -25%, -119%.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quantity per line stays between 3.7 and 4.0 in every band.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above 20%: 14% of volume, -$135K profit, equal to 32% of the $422K earned at 20% or less.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is a proxy for promotions; the data shows association, not causation.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Central's low margin is a discount problem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view: margin with and without lines discounted over 20%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371600"/>
                <a:gridCol w="1463040"/>
                <a:gridCol w="1463040"/>
                <a:gridCol w="1371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&gt;20% disc.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lost &gt;20%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if &lt;=20%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-$52K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-$42K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-$25K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-$16K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5204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has the lowest margin (7.9%) and the heaviest discounting (24% average, 28% of lines above 20%).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lines above 20%, Central's margin (24.8%) is on par with East (25.1%): the gap comes from discount policy, not demand.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comes from existing customers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per year: new vs returning (2015 is the first year in the data)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532120" y="1371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customers: 136 (2016), 51 (2017), 11 (2018).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rose from 73% to 87%; 98% of customers order at least twice.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20% of customers generate 48% of sales.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RFM: Champions are 24% of customers and 40% of sales; At Risk plus Lost are 25% of customers and 8% of sales.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expected profit impact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25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20%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approval above the cap. Deep discounts show no volume benefit.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03911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Tables, Bookcases, Supplies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Re-price or restructure; over half of Tables lines carry deep discounts.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523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Central region pricing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gap versus East and West is a pricing-discipline issue.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112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6557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winners, bundle high-margin lines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Copiers, Accessories, Appliances; add Paper, Labels, Envelopes to orders.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224528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17880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customer acquisition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for At Risk, loyalty tier for Champions.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Report - Superstore 2015-2018</dc:title>
  <dc:subject>PptxGenJS Presentation</dc:subject>
  <dc:creator>Atallah</dc:creator>
  <cp:lastModifiedBy>Atallah</cp:lastModifiedBy>
  <cp:revision>1</cp:revision>
  <dcterms:created xsi:type="dcterms:W3CDTF">2026-10-09T01:30:44Z</dcterms:created>
  <dcterms:modified xsi:type="dcterms:W3CDTF">2026-10-09T01:30:44Z</dcterms:modified>
</cp:coreProperties>
</file>